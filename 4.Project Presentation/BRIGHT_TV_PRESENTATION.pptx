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Watched</c:v>
                </c:pt>
              </c:strCache>
            </c:strRef>
          </c:tx>
          <c:spPr>
            <a:solidFill>
              <a:srgbClr val="D726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Eastern Cape</c:v>
                </c:pt>
                <c:pt idx="5">
                  <c:v>Limpopo</c:v>
                </c:pt>
                <c:pt idx="6">
                  <c:v>Free State</c:v>
                </c:pt>
                <c:pt idx="7">
                  <c:v>North West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553.6</c:v>
                </c:pt>
                <c:pt idx="1">
                  <c:v>300.3</c:v>
                </c:pt>
                <c:pt idx="2">
                  <c:v>158.19999999999999</c:v>
                </c:pt>
                <c:pt idx="3">
                  <c:v>130.69999999999999</c:v>
                </c:pt>
                <c:pt idx="4">
                  <c:v>115.7</c:v>
                </c:pt>
                <c:pt idx="5">
                  <c:v>104.7</c:v>
                </c:pt>
                <c:pt idx="6">
                  <c:v>52.4</c:v>
                </c:pt>
                <c:pt idx="7">
                  <c:v>43.5</c:v>
                </c:pt>
                <c:pt idx="8">
                  <c:v>27.7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A0-41DF-BBA3-D09432BA18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A90"/>
                    </a:solidFill>
                    <a:latin typeface="Arial"/>
                  </a:defRPr>
                </a:pPr>
                <a:r>
                  <a:rPr lang="en-ZA" sz="1000" b="0" i="0" u="none" strike="noStrike">
                    <a:solidFill>
                      <a:srgbClr val="6B7A90"/>
                    </a:solidFill>
                    <a:latin typeface="Arial"/>
                  </a:rPr>
                  <a:t>Hours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8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Watched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ICC Cricket World Cup 2011</c:v>
                </c:pt>
                <c:pt idx="1">
                  <c:v>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Boomerang</c:v>
                </c:pt>
                <c:pt idx="6">
                  <c:v>Cartoon Network</c:v>
                </c:pt>
                <c:pt idx="7">
                  <c:v>CNN</c:v>
                </c:pt>
                <c:pt idx="8">
                  <c:v>Africa Magic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412.1</c:v>
                </c:pt>
                <c:pt idx="1">
                  <c:v>318.5</c:v>
                </c:pt>
                <c:pt idx="2">
                  <c:v>192.8</c:v>
                </c:pt>
                <c:pt idx="3">
                  <c:v>191.9</c:v>
                </c:pt>
                <c:pt idx="4">
                  <c:v>90.7</c:v>
                </c:pt>
                <c:pt idx="5">
                  <c:v>73.3</c:v>
                </c:pt>
                <c:pt idx="6">
                  <c:v>70.3</c:v>
                </c:pt>
                <c:pt idx="7">
                  <c:v>67.8</c:v>
                </c:pt>
                <c:pt idx="8">
                  <c:v>48.7</c:v>
                </c:pt>
                <c:pt idx="9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4E-40DD-AB72-9AB7D332DA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A90"/>
                    </a:solidFill>
                    <a:latin typeface="Arial"/>
                  </a:defRPr>
                </a:pPr>
                <a:r>
                  <a:rPr lang="en-ZA" sz="1000" b="0" i="0" u="none" strike="noStrike">
                    <a:solidFill>
                      <a:srgbClr val="6B7A90"/>
                    </a:solidFill>
                    <a:latin typeface="Arial"/>
                  </a:rPr>
                  <a:t>Hours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8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726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A8-482D-83DC-F7B04C103730}"/>
              </c:ext>
            </c:extLst>
          </c:dPt>
          <c:dPt>
            <c:idx val="1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A8-482D-83DC-F7B04C103730}"/>
              </c:ext>
            </c:extLst>
          </c:dPt>
          <c:dPt>
            <c:idx val="2"/>
            <c:bubble3D val="0"/>
            <c:spPr>
              <a:solidFill>
                <a:srgbClr val="3E5C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A8-482D-83DC-F7B04C103730}"/>
              </c:ext>
            </c:extLst>
          </c:dPt>
          <c:dPt>
            <c:idx val="3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A8-482D-83DC-F7B04C103730}"/>
              </c:ext>
            </c:extLst>
          </c:dPt>
          <c:dPt>
            <c:idx val="4"/>
            <c:bubble3D val="0"/>
            <c:spPr>
              <a:solidFill>
                <a:srgbClr val="6E8C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2A8-482D-83DC-F7B04C103730}"/>
              </c:ext>
            </c:extLst>
          </c:dPt>
          <c:dPt>
            <c:idx val="5"/>
            <c:bubble3D val="0"/>
            <c:spPr>
              <a:solidFill>
                <a:srgbClr val="A4C3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2A8-482D-83DC-F7B04C103730}"/>
              </c:ext>
            </c:extLst>
          </c:dPt>
          <c:dPt>
            <c:idx val="6"/>
            <c:bubble3D val="0"/>
            <c:spPr>
              <a:solidFill>
                <a:srgbClr val="8C3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2A8-482D-83DC-F7B04C103730}"/>
              </c:ext>
            </c:extLst>
          </c:dPt>
          <c:dPt>
            <c:idx val="7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2A8-482D-83DC-F7B04C103730}"/>
              </c:ext>
            </c:extLst>
          </c:dPt>
          <c:cat>
            <c:strRef>
              <c:f>Sheet1!$A$2:$A$9</c:f>
              <c:strCache>
                <c:ptCount val="8"/>
                <c:pt idx="0">
                  <c:v>ICC Cricket World Cup 2011</c:v>
                </c:pt>
                <c:pt idx="1">
                  <c:v>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Boomerang</c:v>
                </c:pt>
                <c:pt idx="6">
                  <c:v>Cartoon Network</c:v>
                </c:pt>
                <c:pt idx="7">
                  <c:v>Other (10 channels)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27.1</c:v>
                </c:pt>
                <c:pt idx="1">
                  <c:v>20.9</c:v>
                </c:pt>
                <c:pt idx="2">
                  <c:v>12.7</c:v>
                </c:pt>
                <c:pt idx="3">
                  <c:v>12.6</c:v>
                </c:pt>
                <c:pt idx="4">
                  <c:v>6</c:v>
                </c:pt>
                <c:pt idx="5">
                  <c:v>4.8</c:v>
                </c:pt>
                <c:pt idx="6">
                  <c:v>4.5999999999999996</c:v>
                </c:pt>
                <c:pt idx="7">
                  <c:v>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2A8-482D-83DC-F7B04C1037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8BE-4127-907F-3F3DEA667A15}"/>
              </c:ext>
            </c:extLst>
          </c:dPt>
          <c:dPt>
            <c:idx val="1"/>
            <c:bubble3D val="0"/>
            <c:spPr>
              <a:solidFill>
                <a:srgbClr val="D726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BE-4127-907F-3F3DEA667A15}"/>
              </c:ext>
            </c:extLst>
          </c:dPt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90.7</c:v>
                </c:pt>
                <c:pt idx="1">
                  <c:v>9.3000000000000007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8BE-4127-907F-3F3DEA667A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ED1-45D6-8525-A2AF24F3D7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ED1-45D6-8525-A2AF24F3D7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ED1-45D6-8525-A2AF24F3D719}"/>
              </c:ext>
            </c:extLst>
          </c:dPt>
          <c:dPt>
            <c:idx val="3"/>
            <c:invertIfNegative val="0"/>
            <c:bubble3D val="0"/>
            <c:spPr>
              <a:solidFill>
                <a:srgbClr val="D726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ED1-45D6-8525-A2AF24F3D719}"/>
              </c:ext>
            </c:extLst>
          </c:dPt>
          <c:dPt>
            <c:idx val="4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ED1-45D6-8525-A2AF24F3D7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ED1-45D6-8525-A2AF24F3D71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ED1-45D6-8525-A2AF24F3D71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Infants</c:v>
                </c:pt>
                <c:pt idx="1">
                  <c:v>Kids</c:v>
                </c:pt>
                <c:pt idx="2">
                  <c:v>Teenager</c:v>
                </c:pt>
                <c:pt idx="3">
                  <c:v>Youth</c:v>
                </c:pt>
                <c:pt idx="4">
                  <c:v>Adult</c:v>
                </c:pt>
                <c:pt idx="5">
                  <c:v>Elder</c:v>
                </c:pt>
                <c:pt idx="6">
                  <c:v>Pensioner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2.4</c:v>
                </c:pt>
                <c:pt idx="1">
                  <c:v>1.4</c:v>
                </c:pt>
                <c:pt idx="2">
                  <c:v>2.9</c:v>
                </c:pt>
                <c:pt idx="3">
                  <c:v>57.7</c:v>
                </c:pt>
                <c:pt idx="4">
                  <c:v>31.6</c:v>
                </c:pt>
                <c:pt idx="5">
                  <c:v>3.7</c:v>
                </c:pt>
                <c:pt idx="6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ED1-45D6-8525-A2AF24F3D7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A90"/>
                    </a:solidFill>
                    <a:latin typeface="Arial"/>
                  </a:defRPr>
                </a:pPr>
                <a:r>
                  <a:rPr lang="en-ZA" sz="1000" b="0" i="0" u="none" strike="noStrike">
                    <a:solidFill>
                      <a:srgbClr val="6B7A90"/>
                    </a:solidFill>
                    <a:latin typeface="Arial"/>
                  </a:rPr>
                  <a:t>% of Watch Hours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8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E0-4372-A783-847C70A5605C}"/>
              </c:ext>
            </c:extLst>
          </c:dPt>
          <c:dPt>
            <c:idx val="1"/>
            <c:invertIfNegative val="0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E0-4372-A783-847C70A5605C}"/>
              </c:ext>
            </c:extLst>
          </c:dPt>
          <c:dPt>
            <c:idx val="2"/>
            <c:invertIfNegative val="0"/>
            <c:bubble3D val="0"/>
            <c:spPr>
              <a:solidFill>
                <a:srgbClr val="D726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E0-4372-A783-847C70A5605C}"/>
              </c:ext>
            </c:extLst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7E0-4372-A783-847C70A5605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Midnight
(00-05h)</c:v>
                </c:pt>
                <c:pt idx="1">
                  <c:v>Morning
(06-11h)</c:v>
                </c:pt>
                <c:pt idx="2">
                  <c:v>Afternoon
(12-17h)</c:v>
                </c:pt>
                <c:pt idx="3">
                  <c:v>Evening
(18-23h)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106.7</c:v>
                </c:pt>
                <c:pt idx="1">
                  <c:v>473.8</c:v>
                </c:pt>
                <c:pt idx="2">
                  <c:v>563.79999999999995</c:v>
                </c:pt>
                <c:pt idx="3">
                  <c:v>378.7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7E0-4372-A783-847C70A560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A90"/>
                    </a:solidFill>
                    <a:latin typeface="Arial"/>
                  </a:defRPr>
                </a:pPr>
                <a:r>
                  <a:rPr lang="en-ZA" sz="1000" b="0" i="0" u="none" strike="noStrike">
                    <a:solidFill>
                      <a:srgbClr val="6B7A90"/>
                    </a:solidFill>
                    <a:latin typeface="Arial"/>
                  </a:rPr>
                  <a:t>Hours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8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993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3E5C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D7263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BRIGHT TV VIEWERSHIP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Viewership Analytics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reach, channel performance, and audience composition across 10,000 viewing sessions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1,523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5394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 Watched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4892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5394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Sessions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4892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4,386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72200" y="5394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Subscribers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960" y="4892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 Provinces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23960" y="53949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Coverage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Musindo |   GitHub Portfolio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7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Viewership by Province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0408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417320"/>
            <a:ext cx="3749040" cy="48463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8388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7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SPOTLIGHT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8388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Gauteng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183880" y="2423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36.3%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183880" y="3017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viewing hours nationwide — nearly double the runner-up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3794760"/>
            <a:ext cx="32004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388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+ Western Cape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83880" y="4251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56.0% of total watch time — viewership is concentrated in the two most urbanised provinces.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83880" y="5166360"/>
            <a:ext cx="32004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3880" y="5349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Lightest reach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83880" y="5623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Cape records the lowest share at just 1.8% of hours watched.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Analytics  |  June-August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7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PERFORMANCE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Top 10 Channels by Watch Time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111099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417320"/>
            <a:ext cx="3794760" cy="822960"/>
          </a:xfrm>
          <a:prstGeom prst="roundRect">
            <a:avLst>
              <a:gd name="adj" fmla="val 6667"/>
            </a:avLst>
          </a:prstGeom>
          <a:solidFill>
            <a:srgbClr val="D72638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481328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 leads with 27.1% of all viewing hours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Analytics  |  June-August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7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ATTENTION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Splits of Shows: Share of Total Viewing Time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603504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645920"/>
            <a:ext cx="201168" cy="201168"/>
          </a:xfrm>
          <a:prstGeom prst="rect">
            <a:avLst/>
          </a:prstGeom>
          <a:solidFill>
            <a:srgbClr val="D72638"/>
          </a:solidFill>
          <a:ln/>
        </p:spPr>
      </p:sp>
      <p:sp>
        <p:nvSpPr>
          <p:cNvPr id="6" name="Text 3"/>
          <p:cNvSpPr/>
          <p:nvPr/>
        </p:nvSpPr>
        <p:spPr>
          <a:xfrm>
            <a:off x="7022592" y="1554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607040" y="1554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20840" y="2212848"/>
            <a:ext cx="201168" cy="2011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7022592" y="21214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07040" y="21214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20840" y="2779776"/>
            <a:ext cx="201168" cy="201168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2" name="Text 9"/>
          <p:cNvSpPr/>
          <p:nvPr/>
        </p:nvSpPr>
        <p:spPr>
          <a:xfrm>
            <a:off x="7022592" y="26883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07040" y="26883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20840" y="3346704"/>
            <a:ext cx="201168" cy="20116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5" name="Text 12"/>
          <p:cNvSpPr/>
          <p:nvPr/>
        </p:nvSpPr>
        <p:spPr>
          <a:xfrm>
            <a:off x="7022592" y="3255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607040" y="32552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20840" y="3913632"/>
            <a:ext cx="201168" cy="201168"/>
          </a:xfrm>
          <a:prstGeom prst="rect">
            <a:avLst/>
          </a:prstGeom>
          <a:solidFill>
            <a:srgbClr val="6E8CA0"/>
          </a:solidFill>
          <a:ln/>
        </p:spPr>
      </p:sp>
      <p:sp>
        <p:nvSpPr>
          <p:cNvPr id="18" name="Text 15"/>
          <p:cNvSpPr/>
          <p:nvPr/>
        </p:nvSpPr>
        <p:spPr>
          <a:xfrm>
            <a:off x="7022592" y="3822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Blitz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07040" y="38221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20840" y="4480560"/>
            <a:ext cx="201168" cy="201168"/>
          </a:xfrm>
          <a:prstGeom prst="rect">
            <a:avLst/>
          </a:prstGeom>
          <a:solidFill>
            <a:srgbClr val="A4C3D2"/>
          </a:solidFill>
          <a:ln/>
        </p:spPr>
      </p:sp>
      <p:sp>
        <p:nvSpPr>
          <p:cNvPr id="21" name="Text 18"/>
          <p:cNvSpPr/>
          <p:nvPr/>
        </p:nvSpPr>
        <p:spPr>
          <a:xfrm>
            <a:off x="7022592" y="4389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Boomerang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607040" y="43891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720840" y="5047488"/>
            <a:ext cx="201168" cy="201168"/>
          </a:xfrm>
          <a:prstGeom prst="rect">
            <a:avLst/>
          </a:prstGeom>
          <a:solidFill>
            <a:srgbClr val="8C3A4A"/>
          </a:solidFill>
          <a:ln/>
        </p:spPr>
      </p:sp>
      <p:sp>
        <p:nvSpPr>
          <p:cNvPr id="24" name="Text 21"/>
          <p:cNvSpPr/>
          <p:nvPr/>
        </p:nvSpPr>
        <p:spPr>
          <a:xfrm>
            <a:off x="7022592" y="49560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Cartoon Network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607040" y="49560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720840" y="5614416"/>
            <a:ext cx="201168" cy="201168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27" name="Text 24"/>
          <p:cNvSpPr/>
          <p:nvPr/>
        </p:nvSpPr>
        <p:spPr>
          <a:xfrm>
            <a:off x="7022592" y="55229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(10 channels)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607040" y="55229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290355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channels aired in total; sport &amp; entertainment formats dominate audience attention.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501025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Analytics  |  June-August 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7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COMPOSITION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Viewership Split by Gender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554480"/>
          <a:ext cx="49377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32461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90.7%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141732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0" y="16916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06640" y="15727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8,761 sessions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406640" y="19659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viewers logged 1,348 hours — 8.5x female watch time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92240" y="30632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3337560"/>
            <a:ext cx="457200" cy="457200"/>
          </a:xfrm>
          <a:prstGeom prst="ellipse">
            <a:avLst/>
          </a:prstGeom>
          <a:solidFill>
            <a:srgbClr val="D72638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06640" y="32186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977 sessions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406640" y="36118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viewers logged 139 hours, 9.3% of total watch time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92240" y="470916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3E5C76"/>
          </a:solidFill>
          <a:ln/>
        </p:spPr>
      </p:sp>
      <p:sp>
        <p:nvSpPr>
          <p:cNvPr id="18" name="Text 15"/>
          <p:cNvSpPr/>
          <p:nvPr/>
        </p:nvSpPr>
        <p:spPr>
          <a:xfrm>
            <a:off x="6812280" y="49377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 sessions (2.6%) had no gender recorded and are excluded from this split.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Analytics  |  June-August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7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COMPOSITION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Viewership Split by Age Bucket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11109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+ Adult </a:t>
            </a: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account for 89.3% of all viewing hours — the platform's core audience skews under 35.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Analytics  |  June -August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7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PATTERNS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Viewership by Time Slot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1732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5270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37.0%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001000" y="203911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1000" y="23317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peak viewing window (12h00–17h00) with 563.8 hours logged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0" y="301752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31272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31.1%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01000" y="363931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01000" y="3931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second-busiest slot, close behind afternoon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72400" y="461772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47274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7.0%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01000" y="523951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01000" y="5532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quietest slot — just 106.7 hours across the quarter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Analytics  |  June-August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7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3677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36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56362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dominates reach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89280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alone drives 36.3% of total watch hours; paired with Western Cape, the two provinces account for 56.0% of all viewing.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3677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36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56362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is the core draw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189280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ICC Cricket World Cup 2011 and Live Events together capture 48.0% of total viewing hours — sport clearly outperforms general entertainment.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0098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2278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skews young and male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5701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and Adult segments make up 89.3% of watch hours, and recorded viewership is 90.7% male — a strongly skewed audience profile.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081528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30098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2278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Afternoons own the schedule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355701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(12h00–17h00) and Morning slots together account for 68.1% of viewing hours, while Midnight remains largely dormant at 7.0%.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96519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8920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Weekday-heavy engagement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221224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account for 67.9% of watch time versus 32.1% on weekends, suggesting viewing is tied to routine daytime/weekday patterns rather than weekend leisure.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745736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96519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86600" y="48920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of underused channels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5221224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17 channels combined contribute just 11.3% of viewing hours — the schedule carries significant underperforming inventory.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Analytics  |  June-August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645920"/>
            <a:ext cx="4206240" cy="4206240"/>
          </a:xfrm>
          <a:prstGeom prst="ellipse">
            <a:avLst/>
          </a:prstGeom>
          <a:solidFill>
            <a:srgbClr val="3E5C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474720" cy="3474720"/>
          </a:xfrm>
          <a:prstGeom prst="ellipse">
            <a:avLst/>
          </a:prstGeom>
          <a:solidFill>
            <a:srgbClr val="D7263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7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RECOMMENDATIONS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7263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behind sport &amp; live events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562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and live-event coverage drive nearly half of all viewing hours — prioritise rights, promotion and scheduling around these formats.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7263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45059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Gauteng &amp; Western Cape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75234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provinces generate 56% of total watch time; regional marketing and ad sales should weight accordingly, while testing growth plays in under-indexed provinces.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7263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346704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the channel line-up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64845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17 channels contribute barely a tenth of total hours — a strong candidate list for schedule refresh or channel rationalisation.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885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7263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88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24281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under-represented audiences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544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90.7% of recorded hours from male viewers and only 11% from Kids/Teens/Elder/Pensioner combined, there's clear white space in content aimed at women and older/younger viewers.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1846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7263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184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13892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flagship content for midday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4406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and Morning slots draw 68% of hours — anchor premium and premiere content there, and use low-traffic Midnight slots for reruns or lower-cost programming.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— Viewership Analytics  |  June-August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753</Words>
  <Application>Microsoft Office PowerPoint</Application>
  <PresentationFormat>Widescreen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Treasury National Office</cp:lastModifiedBy>
  <cp:revision>2</cp:revision>
  <dcterms:created xsi:type="dcterms:W3CDTF">2026-08-03T20:22:56Z</dcterms:created>
  <dcterms:modified xsi:type="dcterms:W3CDTF">2026-08-05T06:45:56Z</dcterms:modified>
</cp:coreProperties>
</file>